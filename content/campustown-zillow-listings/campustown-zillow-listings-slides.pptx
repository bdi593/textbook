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1">
                <a:solidFill>
                  <a:srgbClr val="E36E1E"/>
                </a:solidFill>
              </a:rPr>
              <a:t>BDI 199 / 593  •  Final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Campustown Zillow Listings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Predicting fair prices and finding opportunities in 16 university-anchored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E36E1E"/>
                </a:solidFill>
              </a:rPr>
              <a:t>Advanced Analytics Applications in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Agenda for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Why university-anchored housing markets are interesting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The hypothetical client: Quad Capital Partners (QCP)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The dataset: properties + price-history event log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Part 1 — EDA &amp; business visualizations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Part 2a — Baseline price predictor (XGBoost)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Part 2b — NLP feature engineering with spaCy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Part 3 — Price-history analytics (4-credit only)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Deliverables, AI-tool policy, and the rubric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E36E1E"/>
                </a:solidFill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Why campus towns?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College towns are an unusual asset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Anchored demand — thousands of faculty, staff, and graduate families need housing every year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Counter-cyclical stability — enrollment tends to rise in recessions, cushioning rental demand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Geographically concentrated — a handful of neighborhoods drive most demand, easier to model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Modest absolute price points — reachable for mid-sized funds and individual investors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Real platforms (Roofstock, Invitation Homes, AMH, Pretium, private syndicates) explicitly target these markets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0B2E4F"/>
                </a:solidFill>
              </a:rPr>
              <a:t>16 campus towns, 9 anchoring universities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7223760"/>
              </a:tblGrid>
              <a:tr h="4152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Anchoring university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Madison / Middleton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WI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University of Wisconsin–Madison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Ann Arbor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University of Michigan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Athens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GA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University of Georgia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State College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Pennsylvania State University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Charlottesville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VA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University of Virginia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Gainesville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University of Florida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Chapel Hill / Carrboro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NC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UNC Chapel Hill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Davis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UC Davis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Iowa City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IA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University of Iowa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Champaign / Urbana / Savoy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University of Illinois Urbana-Champaign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Lafayette / West Lafayette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IN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Purdue University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4A5568"/>
                </a:solidFill>
              </a:rPr>
              <a:t>Part 1 adds a `campus` column so satellite towns are pooled with the parent 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E36E1E"/>
                </a:solidFill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The hypothetical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You are a Real Estate Analyst at Quad Capital Partners (QCP)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Mid-sized private investment firm; buys, renovates, and rents single-family homes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Operates in all 16 campus towns; planning a $25M deployment over 18 months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The Head of Acquisitions hands you a Zillow extract and a broad analytical charter: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  “Help us understand these markets, build a tool that estimates a fair price for any home in our footprint, and tell us where the best opportunities are.”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Audience for every chart, model, and recommendation: the Investment Committee — not a data-science conference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4A5568"/>
                </a:solidFill>
              </a:rPr>
              <a:t>Alternatives: Business Developer at a relocation firm, or Strategy Analyst at a regional bank.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E36E1E"/>
                </a:solidFill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The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>
                <a:solidFill>
                  <a:srgbClr val="0B2E4F"/>
                </a:solidFill>
              </a:rPr>
              <a:t>Two Parquet files, one realistic mini-warehouse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5720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0B2E4F"/>
                </a:solidFill>
              </a:rPr>
              <a:t>campustown_properties.parquet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~36,000 rows — one per listing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Price, beds, baths, sqft, lot, year built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Lat/long, ZIP, county, FIPS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Free-text agent description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RESO fields: HOA, parking, school assignments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486400" cy="45720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0B2E4F"/>
                </a:solidFill>
              </a:rPr>
              <a:t>price_history.parquet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~292,000 rows — one per market event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event_type: listed, priceChange, pending, sold…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price and price_change_rate at each event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Joins to properties on property_id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A property can have multiple full list→sold cycles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E36E1E"/>
                </a:solidFill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EDA &amp; business visualizations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REQUIRED · ALL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Part 1 — what we want students to leave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Load both Parquet files cleanly and document data-quality issues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Add a `campus` column so satellite towns roll up to the parent market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Build at least 5 Plotly Express charts comparing markets, price drivers, time trends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Use the simple_white template across the deck for a consistent visual style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Pair every chart with a one- or two-sentence business interpretation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Watch out: `days_on_zillow` is NOT a clean liquidity signal — Part 3 fixes that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DISCUSS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Visualization ideas to discuss in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Median price-per-sqft by campus (horizontal bar; many categories → set height)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Distribution of price by market (box / violin)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Beds vs. price scatter, faceted by campus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Year-built histogram by market — where is the housing stock newer?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Time-trend line of median list price using `date_posted`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Map view of listings colored by price-per-sqft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4A5568"/>
                </a:solidFill>
              </a:rPr>
              <a:t>Reminder: every Plotly chart uses the `simple_white` template; horizontal bars need an explicit height.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E36E1E"/>
                </a:solidFill>
              </a:rPr>
              <a:t>PART 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Baseline price predictor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REQUIRED · ALL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Part 2a — build a defensible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Reproducible scikit-learn pipeline: preprocessing + XGBoost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Hold-out split; report MAE, RMSE, R², and MAPE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Residual analysis: break errors down by market and by price band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Justify the chosen model in plain English — the IC does not care about hyperparameters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This is the model we will improve in Part 2b and reuse in Part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TEACHING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>
                <a:solidFill>
                  <a:srgbClr val="0B2E4F"/>
                </a:solidFill>
              </a:rPr>
              <a:t>Which error metric do we lead with?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5720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0B2E4F"/>
                </a:solidFill>
              </a:rPr>
              <a:t>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MAE — average dollar miss; intuitive for IC audience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RMSE — punishes big misses; matters for downside risk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R² — share of variance explained; useful sanity check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MAPE — percentage error; comparable across price bands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486400" cy="45720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0B2E4F"/>
                </a:solidFill>
              </a:rPr>
              <a:t>Watch-outs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MAPE blows up on cheap homes — winsorize or floor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Residuals usually skew by market — show breakdown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Don't tune on the test split; keep a clean hold-out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5568"/>
                </a:solidFill>
              </a:rPr>
              <a:t>•  Beware of leakage from `last_sold_price`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E36E1E"/>
                </a:solidFill>
              </a:rPr>
              <a:t>PART 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NLP feature engineering with spaCy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REQUIRED · ALL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Part 2b — turn agent descriptions into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Use spaCy `en_core_web_sm` to tokenize the `description` column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Build amenity-style features with PhraseMatcher (e.g., granite, hardwood, garage, pool, updated kitchen)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Add TF-IDF features alongside the structured pipeline from Part 2a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Re-evaluate on the SAME held-out split → improvement must be measurable, not just plausible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Explain WHY the new features helped — connect to what an agent actually writes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E36E1E"/>
                </a:solidFill>
              </a:rPr>
              <a:t>PART 3 · 4-credit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Price-history analytics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REQUIRED · 4-CREDIT (BDI 593)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Part 3 — model market dynamics, not just list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Join `price_history.parquet` to the properties file on `property_id`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Reshape the event log into property-level features: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    list-to-sale ratio, days-to-sale, number of price cuts, market temperature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Train a model that predicts a realized SALE outcome (not list price)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Interpret which dynamics matter most for QCP's acquisition strategy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Reuses cleaned data from Part 1, the pipeline from Part 2a, and NLP features from Part 2b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1">
                <a:solidFill>
                  <a:srgbClr val="E36E1E"/>
                </a:solidFill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Deliverables, rubric, and AI policy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What you hand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One Jupyter notebook with your end-to-end analysis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  — either edit the four scaffold notebooks or consolidate into one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  — must run top-to-bottom on a fresh machine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One slide deck (PowerPoint or PDF) for the QCP Investment Committee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  — fewer than 30 slides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  — includes several of YOUR own Plotly visualizations (static images OK)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  — leads with business implications, not with 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AI tools — encouraged, with two ground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Use ChatGPT, Claude, Copilot, Gemini, etc. for analysis AND for the deck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Rule 1 — You own every number, chart, and claim you submit. AI hallucinates; verify before you ship.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Rule 2 — Disclose, in one sentence on the title slide or notebook header, which tools you used and roughly how.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Example: “I used ChatGPT to draft the first cut of the deck and to debug a ColumnTransformer error.”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0B2E4F"/>
                </a:solidFill>
              </a:rPr>
              <a:t>Grading rubric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914400"/>
                <a:gridCol w="6126480"/>
              </a:tblGrid>
              <a:tr h="41655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we're looking for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41655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Part 1 — EDA &amp; Visualization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Both Parquet files loaded cleanly, ≥5 Plotly charts with business interpretation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655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Part 2a — Baseline Price Predictor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Reproducible sklearn + XGBoost pipeline; MAE/RMSE/R²/MAPE; residual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Part 2b — NLP with spaCy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spaCy features added to Part 2a; measurably better on the same hold-out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655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Communication &amp; slide deck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&lt;30 slides, business-led, your own visuals, AI usage disclosed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Code quality, narrative, reproducibility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Clean headings, no dead code, no hard-coded paths, top-to-bottom run path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655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Part 3 — Price-History Analytics (4-credit)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Event-log features + sale-outcome model + business interpretation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Total — 3-credit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First five rows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6567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Total — 4-credit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All six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E36E1E"/>
                </a:solidFill>
              </a:rPr>
              <a:t>STRETCH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0B2E4F"/>
                </a:solidFill>
              </a:rPr>
              <a:t>Once it works — optional extensions QCP analysts actually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Pull current 30-year mortgage rates and recompute affordability per market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Layer Census ACS rent and household income on top of `county_fips` to estimate gross rental yield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Cluster listings (k-means on $/sqft, year-built, age) and label segments — “value plays,” “trophy homes,” “stale inventory”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5568"/>
                </a:solidFill>
              </a:rPr>
              <a:t>•  Use an LLM to summarize the description column at scale; compare against the spaCy-derived features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72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200" b="0">
                <a:solidFill>
                  <a:srgbClr val="E36E1E"/>
                </a:solidFill>
              </a:rPr>
              <a:t>Pick your role, open Part 1, and start by loading the two Parquet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